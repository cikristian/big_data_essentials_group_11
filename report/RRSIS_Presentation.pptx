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Rwanda Fatal Accidents, 2018–2023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 accidents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597</c:v>
                </c:pt>
                <c:pt idx="1">
                  <c:v>673</c:v>
                </c:pt>
                <c:pt idx="2">
                  <c:v>675</c:v>
                </c:pt>
                <c:pt idx="3">
                  <c:v>621</c:v>
                </c:pt>
                <c:pt idx="4">
                  <c:v>676</c:v>
                </c:pt>
                <c:pt idx="5">
                  <c:v>761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Accidents by Time Period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Afternoon</c:v>
                  </c:pt>
                  <c:pt idx="1">
                    <c:v>Morning</c:v>
                  </c:pt>
                  <c:pt idx="2">
                    <c:v>Evening</c:v>
                  </c:pt>
                  <c:pt idx="3">
                    <c:v>Night</c:v>
                  </c:pt>
                  <c:pt idx="4">
                    <c:v>Late Night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66856</c:v>
                </c:pt>
                <c:pt idx="1">
                  <c:v>56379</c:v>
                </c:pt>
                <c:pt idx="2">
                  <c:v>48896</c:v>
                </c:pt>
                <c:pt idx="3">
                  <c:v>15799</c:v>
                </c:pt>
                <c:pt idx="4">
                  <c:v>9714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Accidents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E3A8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Fri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Mon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32376</c:v>
                </c:pt>
                <c:pt idx="1">
                  <c:v>29853</c:v>
                </c:pt>
                <c:pt idx="2">
                  <c:v>29850</c:v>
                </c:pt>
                <c:pt idx="3">
                  <c:v>29389</c:v>
                </c:pt>
                <c:pt idx="4">
                  <c:v>28154</c:v>
                </c:pt>
                <c:pt idx="5">
                  <c:v>26544</c:v>
                </c:pt>
                <c:pt idx="6">
                  <c:v>21478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Top 5 Districts by Severity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Birmingham</c:v>
                  </c:pt>
                  <c:pt idx="1">
                    <c:v>Westminster</c:v>
                  </c:pt>
                  <c:pt idx="2">
                    <c:v>Manchester</c:v>
                  </c:pt>
                  <c:pt idx="3">
                    <c:v>Sheffield</c:v>
                  </c:pt>
                  <c:pt idx="4">
                    <c:v>Liverpool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7805</c:v>
                </c:pt>
                <c:pt idx="1">
                  <c:v>4341</c:v>
                </c:pt>
                <c:pt idx="2">
                  <c:v>3854</c:v>
                </c:pt>
                <c:pt idx="3">
                  <c:v>3464</c:v>
                </c:pt>
                <c:pt idx="4">
                  <c:v>3445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Top 6 Districts — Composite Risk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Birmingham</c:v>
                  </c:pt>
                  <c:pt idx="1">
                    <c:v>Manchester</c:v>
                  </c:pt>
                  <c:pt idx="2">
                    <c:v>Westminster</c:v>
                  </c:pt>
                  <c:pt idx="3">
                    <c:v>Sheffield</c:v>
                  </c:pt>
                  <c:pt idx="4">
                    <c:v>Liverpool</c:v>
                  </c:pt>
                  <c:pt idx="5">
                    <c:v>Cornwall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0.904</c:v>
                </c:pt>
                <c:pt idx="1">
                  <c:v>0.484</c:v>
                </c:pt>
                <c:pt idx="2">
                  <c:v>0.469</c:v>
                </c:pt>
                <c:pt idx="3">
                  <c:v>0.432</c:v>
                </c:pt>
                <c:pt idx="4">
                  <c:v>0.418</c:v>
                </c:pt>
                <c:pt idx="5">
                  <c:v>0.417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E3A8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Without cache</c:v>
                  </c:pt>
                  <c:pt idx="1">
                    <c:v>With cache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3.76</c:v>
                </c:pt>
                <c:pt idx="1">
                  <c:v>5.07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GROUP PROJECT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Rwanda Road Safety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System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+ Apache Spark (PySpark) Analytics Engine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2011680" cy="0"/>
          </a:xfrm>
          <a:prstGeom prst="line">
            <a:avLst/>
          </a:prstGeom>
          <a:noFill/>
          <a:ln w="25400">
            <a:solidFill>
              <a:srgbClr val="E3A8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•  AUCA Masters, Big Data Essentials  • 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for Data-Driven Road Safety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the NISR Statistical Yearbook 2024, Rwanda recorded 9,995 road accidents in 2023 — including 761 fatal accidents — sourced directly from Rwanda National Police records.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scale of loss motivates a shift from anecdotal, manually compiled reporting toward a data-driven road-safety intelligence system — the objective of this project.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691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Rwanda, 2023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98280" y="15544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98280" y="1691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2514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accidents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2023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92240" y="352044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NISR Statistical Yearbook 2024, Table 14.2.6 — Rwanda National Police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Surrogate Data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Kaggle “Road Accident Dataset” (UK-sourced) is used as a surrogate dataset to prototype the RRSIS pipeline, as specified in the project brief. These are not actual Rwanda accident records.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5577840" cy="292608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Kaggle: Road Accident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307,973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 (PySpark)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vehicle involved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69164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0" y="169164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235440" y="2350008"/>
            <a:ext cx="274320" cy="228600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0" y="257860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0" y="257860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Storage)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235440" y="3236976"/>
            <a:ext cx="274320" cy="228600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0" y="346557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0" y="346557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(PySpark DataFrame)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235440" y="4123944"/>
            <a:ext cx="274320" cy="228600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0" y="435254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0" y="435254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• Analytics 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235440" y="5010912"/>
            <a:ext cx="274320" cy="228600"/>
          </a:xfrm>
          <a:prstGeom prst="downArrow">
            <a:avLst/>
          </a:prstGeom>
          <a:solidFill>
            <a:srgbClr val="5B6472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0" y="523951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3A85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0" y="523951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INGESTION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HDFS + Spark Data Ingestion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2011680"/>
          </a:xfrm>
          <a:prstGeom prst="rect">
            <a:avLst/>
          </a:prstGeom>
          <a:solidFill>
            <a:srgbClr val="141B47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hdfs dfs -mkdir -p /rrsis/data
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hdfs dfs -put "Road Accident Data.csv" /rrsis/data/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spark.read.csv(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"hdfs://localhost:9000/rrsis/data/...",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header=True, inferSchema=True)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loaded directly from HDFS into a PySpark DataFrame — no intermediate local copy.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307,973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3774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loaded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75320" y="160020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737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3774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0" y="160020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0" y="1737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23774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HDFS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4904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Accident_Index • Accident Date • Time • Accident_Severity • Local_Authority_(District) • Latitude / Longitude • Road_Type • Speed_limit • Weather_Conditions • Road_Surface_Conditions • Vehicle_Type • Number_of_Casualties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DATA QUALITY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Data Quality Engineering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329184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Vehicle-level, not accident-level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307,973 rows but only 197,644 unique accidents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mis-inferred as timestamp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date wrongly attached to every time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 Date stored as 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to_date() parsing for temporal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“None” is a valid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of Carriageway_Hazards — not missing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missing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(6,057), Road_Type (1,534), Surface (317)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data-quality issues identified (minimum 5 required)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0" y="155448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Principle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214884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blind row deletion. Each issue treated individually: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Impute contextual nulls as “Unknown”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Preserve “None” as valid category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 vehicle-level vs accident-level views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 only true duplicates / negligible nulls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TEMPORAL PATTERNS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Temporal Accident Intelligence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760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50876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Highest-Risk Time Periods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92040"/>
          <a:ext cx="6675120" cy="1463040"/>
        </p:xfrm>
        <a:graphic>
          <a:graphicData uri="http://schemas.openxmlformats.org/drawingml/2006/table">
            <a:tbl>
              <a:tblPr/>
              <a:tblGrid>
                <a:gridCol w="548640"/>
                <a:gridCol w="384048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· Weekday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· Weekday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45,953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 · Weekday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38,147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· Weekend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 · Weekday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406640" y="489204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all top 5 periods are weekday-dominated — commuting volume, not weekend leisure driving, drives national accident frequency.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SEVERITY INDEX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 — Accident Severity Index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 = Σ (Accidents × Weight)   —   Slight = 1, Serious = 3, Fatal = 5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5760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8745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7F8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≠ Risk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51460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Birmingham: 6,165 accidents, avg severity 1.27 — high volume, mostly minor.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Northamptonshire: only 413 accidents, but avg severity 1.65 — fewer accidents, disproportionately severe.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low-traffic location with consistently severe outcomes may signal a dangerous road design, not just exposure.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by Road Type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66360"/>
          <a:ext cx="5669280" cy="118872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carriageway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196,689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carriageway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Roundabout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RISK COMBINATIONS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5 — Dangerous-Factor Combinations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combinations ranked by average severity (min. 30 occurrences)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0607040" cy="237744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011680"/>
                <a:gridCol w="2743200"/>
                <a:gridCol w="146304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Sev.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carriageway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70mph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 (≤3.5t)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carriageway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60mph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 (≤3.5t)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carriageway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40mph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carriageway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60mph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Motorcycle ≤125cc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carriageway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70mph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754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commercial vans on high-speed dual carriageways at night average the highest severity per accident of any combination — higher than any car-only pattern. Motorcycles recur repeatedly across the top 10.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WINDOW RANKING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6 — Window Function Location Ranking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districts per category, using dense_rank() partitioned by Urban/Rural Area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5120640" cy="164592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Cornwall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Durham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Wiltshire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965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331720"/>
          <a:ext cx="5120640" cy="164592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Birmingham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Westminster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Manchester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51960"/>
            <a:ext cx="10607040" cy="169164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22960" y="4434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dense_rank()?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754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would arbitrarily drop one district from the Top 3 if two tie on severity score. dense_rank() preserves both tied entries — more defensible for a road-safety prioritisation exercise. The same ranking was also computed partitioned by Police Force, covering 30+ forces nationally.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COMPOSITE RISK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7 — Road Safety Risk Score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= (Severity × 0.50) + (Frequency × 0.35) + (Dangerous Conditions × 0.15)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min-max normalised (0–1) before weighting — model is fully data-derived.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2194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06640" y="24231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0.904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337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Birmingham's Risk Score — nearly 2× the second-ranked district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2062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Birmingham leads on all three components simultaneously: 6,165 accidents, severity score 7,805, and a 36% dangerous-conditions rate — confirming it as the clear #1 intervention priority.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EXECUTION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8 — Spark Execution &amp; Performance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Operations (df.explain(True))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groupBy("District") triggers Exchange hashpartitioning — rows must be relocated so matching districts land on one executor.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 ranking (Task 6) triggers 3 Exchange steps — partition + sort before dense_rank().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 filter()+select() shuffled, inherited from an upstream dropDuplicates() in the DataFrame's lineage.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Benchmark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92240" y="1828800"/>
          <a:ext cx="5120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92240" y="42519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only 2 reuses, caching's one-time materialisation cost outweighs the saving — caching pays off when a DataFrame is reused many times (Tasks 4–7 reuse df_severity 6+ times).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MANAGEMENT 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9 — Five Road-Safety Priorities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904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weekday commuting hours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49047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49,971 accidents in weekday afternoons alone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8658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Birmingham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386584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0.904 — nearly 2× the runner-up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826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dangerous factor combinations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8269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 on 70mph dual carriageways at night: avg 2.03 severity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97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788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single carriageway roads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417880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196,689 severity points — 5× the next road type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932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093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074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composite Risk Score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50749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hidden risk, e.g. S. Northamptonshire (1.65 avg severity, only 413 accidents)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Road Safety Intelligence System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141B47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Spark Analysis → Evidence → Recommendation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Group 11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2026-09-03T21:58:43Z</dcterms:created>
  <dcterms:modified xsi:type="dcterms:W3CDTF">2026-09-03T21:58:43Z</dcterms:modified>
</cp:coreProperties>
</file>